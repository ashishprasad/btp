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59" r:id="rId5"/>
    <p:sldId id="260" r:id="rId6"/>
    <p:sldId id="261" r:id="rId7"/>
    <p:sldId id="263" r:id="rId8"/>
    <p:sldId id="267" r:id="rId9"/>
    <p:sldId id="268" r:id="rId10"/>
    <p:sldId id="269" r:id="rId11"/>
    <p:sldId id="270" r:id="rId12"/>
    <p:sldId id="277" r:id="rId13"/>
    <p:sldId id="273" r:id="rId14"/>
    <p:sldId id="274" r:id="rId15"/>
    <p:sldId id="275" r:id="rId16"/>
    <p:sldId id="276" r:id="rId17"/>
    <p:sldId id="281" r:id="rId18"/>
    <p:sldId id="282" r:id="rId19"/>
    <p:sldId id="28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07" autoAdjust="0"/>
  </p:normalViewPr>
  <p:slideViewPr>
    <p:cSldViewPr>
      <p:cViewPr>
        <p:scale>
          <a:sx n="77" d="100"/>
          <a:sy n="77" d="100"/>
        </p:scale>
        <p:origin x="-1176" y="-180"/>
      </p:cViewPr>
      <p:guideLst>
        <p:guide orient="horz" pos="3016"/>
        <p:guide pos="2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2450" y="2974705"/>
            <a:ext cx="6261100" cy="20525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5426288"/>
            <a:ext cx="5156200" cy="24471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863" y="6153339"/>
            <a:ext cx="6261100" cy="190186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863" y="4058633"/>
            <a:ext cx="6261100" cy="209470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8300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4383" y="2234355"/>
            <a:ext cx="3253317" cy="63195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143474"/>
            <a:ext cx="3254596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300" y="3036771"/>
            <a:ext cx="3254596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41827" y="2143474"/>
            <a:ext cx="3255874" cy="89329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41827" y="3036771"/>
            <a:ext cx="3255874" cy="55171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1" y="381259"/>
            <a:ext cx="2423363" cy="16225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9901" y="381259"/>
            <a:ext cx="4117799" cy="81726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8301" y="2003825"/>
            <a:ext cx="2423363" cy="65501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788" y="6703060"/>
            <a:ext cx="4419600" cy="7913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43788" y="855615"/>
            <a:ext cx="4419600" cy="57454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788" y="7494394"/>
            <a:ext cx="4419600" cy="11238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40350" y="536423"/>
            <a:ext cx="1657350" cy="114067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8300" y="536423"/>
            <a:ext cx="4849283" cy="114067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6629400" cy="1595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300" y="2234355"/>
            <a:ext cx="6629400" cy="6319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8300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8523B-E035-4CAE-A96A-58211FC229D1}" type="datetimeFigureOut">
              <a:rPr lang="en-US" smtClean="0"/>
              <a:pPr/>
              <a:t>4/10/2012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16717" y="8875350"/>
            <a:ext cx="2332567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78967" y="8875350"/>
            <a:ext cx="1718733" cy="509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FF54-6BA4-4515-87CA-28703F844993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774700" y="2159000"/>
            <a:ext cx="7640233" cy="203902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300"/>
              </a:lnSpc>
              <a:tabLst>
                <a:tab pos="622300" algn="l"/>
              </a:tabLst>
            </a:pP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Enabling Precedence Constrained</a:t>
            </a:r>
            <a:r>
              <a:rPr lang="en-CA" sz="4285" dirty="0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4285" dirty="0" smtClean="0">
                <a:solidFill>
                  <a:srgbClr val="000000"/>
                </a:solidFill>
                <a:latin typeface="Times New Roman"/>
              </a:rPr>
            </a:b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	Task Scheduling in LITMUS</a:t>
            </a:r>
            <a:r>
              <a:rPr lang="en-CA" sz="4800" baseline="30000" dirty="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5300"/>
              </a:lnSpc>
            </a:pPr>
            <a:endParaRPr lang="en-CA" sz="4285" dirty="0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394200" y="3848100"/>
            <a:ext cx="47498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5"/>
              </a:lnSpc>
            </a:pPr>
            <a:r>
              <a:rPr lang="en-CA" sz="2712" smtClean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</a:p>
          <a:p>
            <a:pPr>
              <a:lnSpc>
                <a:spcPts val="3105"/>
              </a:lnSpc>
            </a:pPr>
            <a:endParaRPr lang="en-CA" sz="271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606800" y="4241800"/>
            <a:ext cx="5537200" cy="952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indent="3047">
              <a:lnSpc>
                <a:spcPts val="3300"/>
              </a:lnSpc>
            </a:pPr>
            <a:r>
              <a:rPr lang="en-CA" sz="2714" smtClean="0">
                <a:solidFill>
                  <a:srgbClr val="888888"/>
                </a:solidFill>
                <a:latin typeface="Calibri"/>
                <a:cs typeface="Calibri"/>
              </a:rPr>
              <a:t>Ashish Prasad</a:t>
            </a:r>
            <a:r>
              <a:rPr lang="en-CA" sz="2714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714" smtClean="0">
                <a:solidFill>
                  <a:srgbClr val="000000"/>
                </a:solidFill>
                <a:latin typeface="Times New Roman"/>
              </a:rPr>
            </a:br>
            <a:r>
              <a:rPr lang="en-CA" sz="2714" smtClean="0">
                <a:solidFill>
                  <a:srgbClr val="888888"/>
                </a:solidFill>
                <a:latin typeface="Calibri"/>
                <a:cs typeface="Calibri"/>
              </a:rPr>
              <a:t>Digvijay Singh</a:t>
            </a:r>
          </a:p>
          <a:p>
            <a:pPr>
              <a:lnSpc>
                <a:spcPts val="3300"/>
              </a:lnSpc>
            </a:pPr>
            <a:endParaRPr lang="en-CA" sz="2714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340100" y="5080000"/>
            <a:ext cx="58039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105"/>
              </a:lnSpc>
            </a:pPr>
            <a:r>
              <a:rPr lang="en-CA" sz="2712" smtClean="0">
                <a:solidFill>
                  <a:srgbClr val="888888"/>
                </a:solidFill>
                <a:latin typeface="Calibri"/>
                <a:cs typeface="Calibri"/>
              </a:rPr>
              <a:t>Shashank Sharma</a:t>
            </a:r>
          </a:p>
          <a:p>
            <a:pPr>
              <a:lnSpc>
                <a:spcPts val="3105"/>
              </a:lnSpc>
            </a:pPr>
            <a:endParaRPr lang="en-CA" sz="2712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70" y="0"/>
            <a:ext cx="9144000" cy="6858000"/>
          </a:xfrm>
          <a:prstGeom prst="rect">
            <a:avLst/>
          </a:prstGeom>
        </p:spPr>
      </p:pic>
      <p:sp>
        <p:nvSpPr>
          <p:cNvPr id="10" name="TextBox 2"/>
          <p:cNvSpPr txBox="1"/>
          <p:nvPr/>
        </p:nvSpPr>
        <p:spPr>
          <a:xfrm>
            <a:off x="3949700" y="495300"/>
            <a:ext cx="5194300" cy="812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smtClean="0">
                <a:solidFill>
                  <a:srgbClr val="000000"/>
                </a:solidFill>
                <a:latin typeface="Calibri"/>
                <a:cs typeface="Calibri"/>
              </a:rPr>
              <a:t>Index</a:t>
            </a:r>
          </a:p>
          <a:p>
            <a:pPr>
              <a:lnSpc>
                <a:spcPts val="5060"/>
              </a:lnSpc>
            </a:pPr>
            <a:endParaRPr lang="en-CA" sz="4394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1638300"/>
            <a:ext cx="6069931" cy="9489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2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2" dirty="0" smtClean="0">
                <a:solidFill>
                  <a:srgbClr val="000000"/>
                </a:solidFill>
                <a:latin typeface="Calibri"/>
                <a:cs typeface="Calibri"/>
              </a:rPr>
              <a:t> LITMUS</a:t>
            </a:r>
            <a:r>
              <a:rPr lang="en-CA" sz="3600" baseline="30000" dirty="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  <a:r>
              <a:rPr lang="en-CA" sz="3192" dirty="0" smtClean="0">
                <a:solidFill>
                  <a:srgbClr val="000000"/>
                </a:solidFill>
                <a:latin typeface="Calibri"/>
                <a:cs typeface="Calibri"/>
              </a:rPr>
              <a:t> : Design and Architecture</a:t>
            </a:r>
          </a:p>
          <a:p>
            <a:pPr>
              <a:lnSpc>
                <a:spcPts val="3680"/>
              </a:lnSpc>
            </a:pPr>
            <a:endParaRPr lang="en-CA" sz="3133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100" y="2222500"/>
            <a:ext cx="85979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4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4" smtClean="0">
                <a:solidFill>
                  <a:srgbClr val="000000"/>
                </a:solidFill>
                <a:latin typeface="Calibri"/>
                <a:cs typeface="Calibri"/>
              </a:rPr>
              <a:t> Task model</a:t>
            </a:r>
          </a:p>
          <a:p>
            <a:pPr>
              <a:lnSpc>
                <a:spcPts val="3680"/>
              </a:lnSpc>
            </a:pPr>
            <a:endParaRPr lang="en-CA" sz="3194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6100" y="2806700"/>
            <a:ext cx="85979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4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 Data </a:t>
            </a: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Structure</a:t>
            </a:r>
          </a:p>
          <a:p>
            <a:pPr>
              <a:lnSpc>
                <a:spcPts val="3680"/>
              </a:lnSpc>
            </a:pPr>
            <a:endParaRPr lang="en-CA" sz="3194" dirty="0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46100" y="3429000"/>
            <a:ext cx="1710405" cy="94897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4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 GSN-EDF</a:t>
            </a:r>
            <a:endParaRPr lang="en-CA" sz="3194" dirty="0" smtClean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ts val="3680"/>
              </a:lnSpc>
            </a:pPr>
            <a:endParaRPr lang="en-CA" sz="3194" dirty="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546100" y="3975100"/>
            <a:ext cx="85979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2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2" smtClean="0">
                <a:solidFill>
                  <a:srgbClr val="000000"/>
                </a:solidFill>
                <a:latin typeface="Calibri"/>
                <a:cs typeface="Calibri"/>
              </a:rPr>
              <a:t> User Interface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6100" y="4559300"/>
            <a:ext cx="85979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2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2" smtClean="0">
                <a:solidFill>
                  <a:srgbClr val="000000"/>
                </a:solidFill>
                <a:latin typeface="Calibri"/>
                <a:cs typeface="Calibri"/>
              </a:rPr>
              <a:t> System Call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6100" y="5143500"/>
            <a:ext cx="2876237" cy="237244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192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3192" dirty="0" smtClean="0">
                <a:solidFill>
                  <a:srgbClr val="000000"/>
                </a:solidFill>
                <a:latin typeface="Calibri"/>
                <a:cs typeface="Calibri"/>
              </a:rPr>
              <a:t> Kernel Interface</a:t>
            </a:r>
          </a:p>
          <a:p>
            <a:pPr>
              <a:lnSpc>
                <a:spcPts val="3680"/>
              </a:lnSpc>
              <a:buFont typeface="Arial" pitchFamily="34" charset="0"/>
              <a:buChar char="•"/>
            </a:pPr>
            <a:r>
              <a:rPr lang="en-CA" sz="3192" dirty="0" smtClean="0">
                <a:solidFill>
                  <a:srgbClr val="000000"/>
                </a:solidFill>
                <a:latin typeface="Calibri"/>
                <a:cs typeface="Calibri"/>
              </a:rPr>
              <a:t> Result</a:t>
            </a:r>
          </a:p>
          <a:p>
            <a:pPr>
              <a:lnSpc>
                <a:spcPts val="3680"/>
              </a:lnSpc>
              <a:buFont typeface="Arial" pitchFamily="34" charset="0"/>
              <a:buChar char="•"/>
            </a:pPr>
            <a:r>
              <a:rPr lang="en-CA" sz="3192" dirty="0" smtClean="0">
                <a:solidFill>
                  <a:srgbClr val="000000"/>
                </a:solidFill>
                <a:latin typeface="Calibri"/>
                <a:cs typeface="Calibri"/>
              </a:rPr>
              <a:t> Challenges</a:t>
            </a:r>
          </a:p>
          <a:p>
            <a:pPr>
              <a:lnSpc>
                <a:spcPts val="3680"/>
              </a:lnSpc>
            </a:pPr>
            <a:endParaRPr lang="en-CA" sz="3192" dirty="0" smtClean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ts val="3680"/>
              </a:lnSpc>
            </a:pPr>
            <a:endParaRPr lang="en-CA" sz="3192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7847038" cy="1595967"/>
          </a:xfrm>
        </p:spPr>
        <p:txBody>
          <a:bodyPr/>
          <a:lstStyle/>
          <a:p>
            <a:r>
              <a:rPr lang="en-US" dirty="0" smtClean="0"/>
              <a:t>LITMUS</a:t>
            </a:r>
            <a:r>
              <a:rPr lang="en-US" baseline="30000" dirty="0" smtClean="0"/>
              <a:t>RT</a:t>
            </a:r>
            <a:endParaRPr lang="en-US" baseline="30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2234355"/>
            <a:ext cx="8204228" cy="4409355"/>
          </a:xfrm>
        </p:spPr>
        <p:txBody>
          <a:bodyPr>
            <a:normAutofit lnSpcReduction="10000"/>
          </a:bodyPr>
          <a:lstStyle/>
          <a:p>
            <a:r>
              <a:rPr lang="en-US" sz="2400" dirty="0" smtClean="0"/>
              <a:t>The LITMUS</a:t>
            </a:r>
            <a:r>
              <a:rPr lang="en-US" sz="2400" baseline="30000" dirty="0" smtClean="0"/>
              <a:t>RT</a:t>
            </a:r>
            <a:r>
              <a:rPr lang="en-US" sz="2400" dirty="0" smtClean="0"/>
              <a:t> patch is </a:t>
            </a:r>
            <a:r>
              <a:rPr lang="en-US" sz="2400" b="1" dirty="0" smtClean="0"/>
              <a:t>a (soft) real-time extension of the Linux kernel</a:t>
            </a:r>
            <a:r>
              <a:rPr lang="en-US" sz="2400" dirty="0" smtClean="0"/>
              <a:t> with a focus on multiprocessor real-time scheduling and synchronization. The Linux kernel is modified to support the sporadic task model and modular scheduler </a:t>
            </a:r>
            <a:r>
              <a:rPr lang="en-US" sz="2400" dirty="0" err="1" smtClean="0"/>
              <a:t>plugins</a:t>
            </a:r>
            <a:r>
              <a:rPr lang="en-US" sz="2400" dirty="0" smtClean="0"/>
              <a:t>. Clustered, partitioned, and global scheduling are included, and semi-partitioned scheduling is supported as well.</a:t>
            </a:r>
          </a:p>
          <a:p>
            <a:r>
              <a:rPr lang="en-US" sz="2400" dirty="0" smtClean="0"/>
              <a:t>The primary purpose of the LITMUS</a:t>
            </a:r>
            <a:r>
              <a:rPr lang="en-US" sz="2400" baseline="30000" dirty="0" smtClean="0"/>
              <a:t>RT</a:t>
            </a:r>
            <a:r>
              <a:rPr lang="en-US" sz="2400" dirty="0" smtClean="0"/>
              <a:t> project is to </a:t>
            </a:r>
            <a:r>
              <a:rPr lang="en-US" sz="2400" b="1" dirty="0" smtClean="0"/>
              <a:t>provide a useful experimental platform for applied real-time systems research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current version of LITMUS</a:t>
            </a:r>
            <a:r>
              <a:rPr lang="en-US" sz="2400" baseline="30000" dirty="0" smtClean="0"/>
              <a:t>RT</a:t>
            </a:r>
            <a:r>
              <a:rPr lang="en-US" sz="2400" dirty="0" smtClean="0"/>
              <a:t> is </a:t>
            </a:r>
            <a:r>
              <a:rPr lang="en-US" sz="2400" b="1" dirty="0" smtClean="0"/>
              <a:t>2012.1</a:t>
            </a:r>
            <a:r>
              <a:rPr lang="en-US" sz="2400" dirty="0" smtClean="0"/>
              <a:t> and is based on Linux 3.0</a:t>
            </a:r>
          </a:p>
          <a:p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32" y="0"/>
            <a:ext cx="9144000" cy="6858000"/>
          </a:xfrm>
          <a:prstGeom prst="rect">
            <a:avLst/>
          </a:prstGeom>
        </p:spPr>
      </p:pic>
      <p:sp>
        <p:nvSpPr>
          <p:cNvPr id="25" name="TextBox 2"/>
          <p:cNvSpPr txBox="1"/>
          <p:nvPr/>
        </p:nvSpPr>
        <p:spPr>
          <a:xfrm>
            <a:off x="2679700" y="495300"/>
            <a:ext cx="3805081" cy="130805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LITMUS</a:t>
            </a:r>
            <a:r>
              <a:rPr lang="en-CA" sz="4400" baseline="30000" dirty="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 Design</a:t>
            </a:r>
          </a:p>
          <a:p>
            <a:pPr>
              <a:lnSpc>
                <a:spcPts val="5060"/>
              </a:lnSpc>
            </a:pPr>
            <a:endParaRPr lang="en-CA" sz="4198" dirty="0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927100" y="1587500"/>
            <a:ext cx="15113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2" smtClean="0">
                <a:solidFill>
                  <a:srgbClr val="000000"/>
                </a:solidFill>
                <a:latin typeface="Calibri"/>
                <a:cs typeface="Calibri"/>
              </a:rPr>
              <a:t>P-EDF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" y="2260600"/>
            <a:ext cx="1524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0" smtClean="0">
                <a:solidFill>
                  <a:srgbClr val="000000"/>
                </a:solidFill>
                <a:latin typeface="Calibri"/>
                <a:cs typeface="Calibri"/>
              </a:rPr>
              <a:t>G-EDF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77900" y="2667000"/>
            <a:ext cx="14605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12" b="1" smtClean="0">
                <a:solidFill>
                  <a:srgbClr val="000000"/>
                </a:solidFill>
                <a:latin typeface="Calibri Bold"/>
                <a:cs typeface="Calibri Bold"/>
              </a:rPr>
              <a:t>Policy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9000" y="3035300"/>
            <a:ext cx="15494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10" b="1" smtClean="0">
                <a:solidFill>
                  <a:srgbClr val="000000"/>
                </a:solidFill>
                <a:latin typeface="Calibri Bold"/>
                <a:cs typeface="Calibri Bold"/>
              </a:rPr>
              <a:t>Plugins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2500" y="4025900"/>
            <a:ext cx="14859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2" smtClean="0">
                <a:solidFill>
                  <a:srgbClr val="000000"/>
                </a:solidFill>
                <a:latin typeface="Calibri"/>
                <a:cs typeface="Calibri"/>
              </a:rPr>
              <a:t>PFAIR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628900" y="2070100"/>
            <a:ext cx="11938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2" smtClean="0">
                <a:solidFill>
                  <a:srgbClr val="000000"/>
                </a:solidFill>
                <a:latin typeface="Calibri Bold Italic"/>
                <a:cs typeface="Calibri Bold Italic"/>
              </a:rPr>
              <a:t>sched.</a:t>
            </a:r>
          </a:p>
          <a:p>
            <a:pPr>
              <a:lnSpc>
                <a:spcPts val="1610"/>
              </a:lnSpc>
            </a:pPr>
            <a:endParaRPr lang="en-CA" sz="1392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40000" y="2286000"/>
            <a:ext cx="12827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CA" sz="1394" smtClean="0">
                <a:solidFill>
                  <a:srgbClr val="000000"/>
                </a:solidFill>
                <a:latin typeface="Calibri Bold Italic"/>
                <a:cs typeface="Calibri Bold Italic"/>
              </a:rPr>
              <a:t>interface</a:t>
            </a:r>
          </a:p>
          <a:p>
            <a:pPr>
              <a:lnSpc>
                <a:spcPts val="1610"/>
              </a:lnSpc>
            </a:pPr>
            <a:endParaRPr lang="en-CA" sz="1394">
              <a:solidFill>
                <a:srgbClr val="000000"/>
              </a:solidFill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051300" y="1854200"/>
            <a:ext cx="1471557" cy="69012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12" b="1" dirty="0" smtClean="0">
                <a:solidFill>
                  <a:srgbClr val="000000"/>
                </a:solidFill>
                <a:latin typeface="Calibri Bold"/>
                <a:cs typeface="Calibri Bold"/>
              </a:rPr>
              <a:t>LITMUS</a:t>
            </a:r>
            <a:r>
              <a:rPr lang="en-CA" sz="2800" b="1" baseline="30000" dirty="0" smtClean="0">
                <a:solidFill>
                  <a:srgbClr val="000000"/>
                </a:solidFill>
                <a:latin typeface="Calibri Bold"/>
                <a:cs typeface="Calibri Bold"/>
              </a:rPr>
              <a:t>RT</a:t>
            </a:r>
          </a:p>
          <a:p>
            <a:pPr>
              <a:lnSpc>
                <a:spcPts val="2760"/>
              </a:lnSpc>
            </a:pPr>
            <a:endParaRPr lang="en-CA" sz="2203" dirty="0">
              <a:solidFill>
                <a:srgbClr val="000000"/>
              </a:solidFill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210300" y="2095500"/>
            <a:ext cx="1193800" cy="342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00"/>
              </a:lnSpc>
            </a:pPr>
            <a:r>
              <a:rPr lang="en-CA" sz="1607" smtClean="0">
                <a:solidFill>
                  <a:srgbClr val="000000"/>
                </a:solidFill>
                <a:latin typeface="Calibri Bold Italic"/>
                <a:cs typeface="Calibri Bold Italic"/>
              </a:rPr>
              <a:t>RT sys.</a:t>
            </a:r>
          </a:p>
          <a:p>
            <a:pPr>
              <a:lnSpc>
                <a:spcPts val="1280"/>
              </a:lnSpc>
            </a:pPr>
            <a:endParaRPr lang="en-CA" sz="1607">
              <a:solidFill>
                <a:srgbClr val="000000"/>
              </a:solidFill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356100" y="2273300"/>
            <a:ext cx="3048000" cy="406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100"/>
              </a:lnSpc>
              <a:tabLst>
                <a:tab pos="1955800" algn="l"/>
              </a:tabLst>
            </a:pPr>
            <a:r>
              <a:rPr lang="en-CA" sz="2410" b="1" smtClean="0">
                <a:solidFill>
                  <a:srgbClr val="000000"/>
                </a:solidFill>
                <a:latin typeface="Calibri Bold"/>
                <a:cs typeface="Calibri Bold"/>
              </a:rPr>
              <a:t>Core</a:t>
            </a:r>
            <a:r>
              <a:rPr lang="en-CA" sz="1610" smtClean="0">
                <a:solidFill>
                  <a:srgbClr val="000000"/>
                </a:solidFill>
                <a:latin typeface="Calibri Bold Italic"/>
                <a:cs typeface="Calibri Bold Italic"/>
              </a:rPr>
              <a:t>	calls</a:t>
            </a:r>
          </a:p>
          <a:p>
            <a:pPr>
              <a:lnSpc>
                <a:spcPts val="2160"/>
              </a:lnSpc>
            </a:pPr>
            <a:endParaRPr lang="en-CA" sz="1610">
              <a:solidFill>
                <a:srgbClr val="000000"/>
              </a:solidFill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987800" y="3657600"/>
            <a:ext cx="3416300" cy="342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CA" sz="1610" smtClean="0">
                <a:solidFill>
                  <a:srgbClr val="000000"/>
                </a:solidFill>
                <a:latin typeface="Calibri Bold Italic"/>
                <a:cs typeface="Calibri Bold Italic"/>
              </a:rPr>
              <a:t>Plugs into the</a:t>
            </a:r>
          </a:p>
          <a:p>
            <a:pPr>
              <a:lnSpc>
                <a:spcPts val="1840"/>
              </a:lnSpc>
            </a:pPr>
            <a:endParaRPr lang="en-CA" sz="1610">
              <a:solidFill>
                <a:srgbClr val="000000"/>
              </a:solidFill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3937000" y="3911600"/>
            <a:ext cx="3467100" cy="342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CA" sz="1607" smtClean="0">
                <a:solidFill>
                  <a:srgbClr val="000000"/>
                </a:solidFill>
                <a:latin typeface="Calibri Bold Italic"/>
                <a:cs typeface="Calibri Bold Italic"/>
              </a:rPr>
              <a:t>Linux Scheduler</a:t>
            </a:r>
          </a:p>
          <a:p>
            <a:pPr>
              <a:lnSpc>
                <a:spcPts val="1840"/>
              </a:lnSpc>
            </a:pPr>
            <a:endParaRPr lang="en-CA" sz="1607">
              <a:solidFill>
                <a:srgbClr val="000000"/>
              </a:solidFill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32700" y="1574800"/>
            <a:ext cx="1397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632700" y="2298700"/>
            <a:ext cx="1397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2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632700" y="2959100"/>
            <a:ext cx="13970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0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658100" y="3467100"/>
            <a:ext cx="1371600" cy="469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CA" sz="2217" b="1" smtClean="0">
                <a:solidFill>
                  <a:srgbClr val="000000"/>
                </a:solidFill>
                <a:latin typeface="Calibri Bold"/>
                <a:cs typeface="Calibri Bold"/>
              </a:rPr>
              <a:t>RT</a:t>
            </a:r>
          </a:p>
          <a:p>
            <a:pPr>
              <a:lnSpc>
                <a:spcPts val="2530"/>
              </a:lnSpc>
            </a:pPr>
            <a:endParaRPr lang="en-CA" sz="2207">
              <a:solidFill>
                <a:srgbClr val="000000"/>
              </a:solidFill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518400" y="3797300"/>
            <a:ext cx="1511300" cy="469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500"/>
              </a:lnSpc>
            </a:pPr>
            <a:r>
              <a:rPr lang="en-CA" sz="2220" b="1" smtClean="0">
                <a:solidFill>
                  <a:srgbClr val="000000"/>
                </a:solidFill>
                <a:latin typeface="Calibri Bold"/>
                <a:cs typeface="Calibri Bold"/>
              </a:rPr>
              <a:t>Apps</a:t>
            </a:r>
          </a:p>
          <a:p>
            <a:pPr>
              <a:lnSpc>
                <a:spcPts val="2530"/>
              </a:lnSpc>
            </a:pPr>
            <a:endParaRPr lang="en-CA" sz="2210">
              <a:solidFill>
                <a:srgbClr val="000000"/>
              </a:solidFill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632700" y="4851400"/>
            <a:ext cx="15113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r>
              <a:rPr lang="en-CA" sz="2402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2760"/>
              </a:lnSpc>
            </a:pPr>
            <a:endParaRPr lang="en-CA" sz="2402">
              <a:solidFill>
                <a:srgbClr val="000000"/>
              </a:solidFill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7100" y="5270500"/>
            <a:ext cx="51308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00"/>
              </a:lnSpc>
            </a:pPr>
            <a:r>
              <a:rPr lang="en-CA" sz="2410" b="1" smtClean="0">
                <a:solidFill>
                  <a:srgbClr val="000000"/>
                </a:solidFill>
                <a:latin typeface="Calibri Bold"/>
                <a:cs typeface="Calibri Bold"/>
              </a:rPr>
              <a:t>Linux 2.6.36</a:t>
            </a:r>
          </a:p>
          <a:p>
            <a:pPr>
              <a:lnSpc>
                <a:spcPts val="276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59500" y="5194300"/>
            <a:ext cx="1371600" cy="342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00"/>
              </a:lnSpc>
            </a:pPr>
            <a:r>
              <a:rPr lang="en-CA" sz="1607" smtClean="0">
                <a:solidFill>
                  <a:srgbClr val="000000"/>
                </a:solidFill>
                <a:latin typeface="Calibri Bold Italic"/>
                <a:cs typeface="Calibri Bold Italic"/>
              </a:rPr>
              <a:t>std. sys.</a:t>
            </a:r>
          </a:p>
          <a:p>
            <a:pPr>
              <a:lnSpc>
                <a:spcPts val="1440"/>
              </a:lnSpc>
            </a:pPr>
            <a:endParaRPr lang="en-CA" sz="1607">
              <a:solidFill>
                <a:srgbClr val="000000"/>
              </a:solidFill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311900" y="5397500"/>
            <a:ext cx="1219200" cy="3429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CA" sz="1610" smtClean="0">
                <a:solidFill>
                  <a:srgbClr val="000000"/>
                </a:solidFill>
                <a:latin typeface="Calibri Bold Italic"/>
                <a:cs typeface="Calibri Bold Italic"/>
              </a:rPr>
              <a:t>calls</a:t>
            </a:r>
          </a:p>
          <a:p>
            <a:pPr>
              <a:lnSpc>
                <a:spcPts val="1840"/>
              </a:lnSpc>
            </a:pPr>
            <a:endParaRPr lang="en-CA" sz="1610">
              <a:solidFill>
                <a:srgbClr val="000000"/>
              </a:solidFill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632700" y="5600700"/>
            <a:ext cx="1409700" cy="508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900"/>
              </a:lnSpc>
            </a:pPr>
            <a:r>
              <a:rPr lang="en-CA" sz="2400" smtClean="0">
                <a:solidFill>
                  <a:srgbClr val="000000"/>
                </a:solidFill>
                <a:latin typeface="Calibri"/>
                <a:cs typeface="Calibri"/>
              </a:rPr>
              <a:t>RT</a:t>
            </a:r>
          </a:p>
          <a:p>
            <a:pPr>
              <a:lnSpc>
                <a:spcPts val="1920"/>
              </a:lnSpc>
            </a:pPr>
            <a:endParaRPr lang="en-CA" sz="240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1333500" y="762000"/>
            <a:ext cx="78105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4018" b="1" smtClean="0">
                <a:solidFill>
                  <a:srgbClr val="000000"/>
                </a:solidFill>
                <a:latin typeface="Calibri Bold"/>
                <a:cs typeface="Calibri Bold"/>
              </a:rPr>
              <a:t>Dependent Constrained Tasks</a:t>
            </a:r>
          </a:p>
          <a:p>
            <a:pPr>
              <a:lnSpc>
                <a:spcPts val="4600"/>
              </a:lnSpc>
            </a:pPr>
            <a:endParaRPr lang="en-CA" sz="4008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74700" y="2095500"/>
            <a:ext cx="83693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0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10" dirty="0" smtClean="0">
                <a:solidFill>
                  <a:srgbClr val="000000"/>
                </a:solidFill>
                <a:latin typeface="Calibri"/>
                <a:cs typeface="Calibri"/>
              </a:rPr>
              <a:t>Directed Acyclic Graph</a:t>
            </a:r>
          </a:p>
          <a:p>
            <a:pPr>
              <a:lnSpc>
                <a:spcPts val="3220"/>
              </a:lnSpc>
            </a:pPr>
            <a:endParaRPr lang="en-CA" sz="2810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74700" y="2603500"/>
            <a:ext cx="83693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07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07" dirty="0" smtClean="0">
                <a:solidFill>
                  <a:srgbClr val="000000"/>
                </a:solidFill>
                <a:latin typeface="Calibri"/>
                <a:cs typeface="Calibri"/>
              </a:rPr>
              <a:t>Source Node</a:t>
            </a:r>
          </a:p>
          <a:p>
            <a:pPr>
              <a:lnSpc>
                <a:spcPts val="3220"/>
              </a:lnSpc>
            </a:pPr>
            <a:endParaRPr lang="en-CA" sz="2807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74700" y="3111500"/>
            <a:ext cx="83693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07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07" smtClean="0">
                <a:solidFill>
                  <a:srgbClr val="000000"/>
                </a:solidFill>
                <a:latin typeface="Calibri"/>
                <a:cs typeface="Calibri"/>
              </a:rPr>
              <a:t>Sink Node</a:t>
            </a:r>
          </a:p>
          <a:p>
            <a:pPr>
              <a:lnSpc>
                <a:spcPts val="3220"/>
              </a:lnSpc>
            </a:pPr>
            <a:endParaRPr lang="en-CA" sz="2807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74700" y="3632200"/>
            <a:ext cx="83693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10" smtClean="0">
                <a:solidFill>
                  <a:srgbClr val="000000"/>
                </a:solidFill>
                <a:latin typeface="Calibri"/>
                <a:cs typeface="Calibri"/>
              </a:rPr>
              <a:t>Dependency</a:t>
            </a:r>
          </a:p>
          <a:p>
            <a:pPr>
              <a:lnSpc>
                <a:spcPts val="3220"/>
              </a:lnSpc>
            </a:pPr>
            <a:endParaRPr lang="en-CA" sz="281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2"/>
          <p:cNvSpPr txBox="1"/>
          <p:nvPr/>
        </p:nvSpPr>
        <p:spPr>
          <a:xfrm>
            <a:off x="2730500" y="762000"/>
            <a:ext cx="64135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4600"/>
              </a:lnSpc>
            </a:pPr>
            <a:r>
              <a:rPr lang="en-CA" sz="4018" b="1" smtClean="0">
                <a:solidFill>
                  <a:srgbClr val="000000"/>
                </a:solidFill>
                <a:latin typeface="Calibri Bold"/>
                <a:cs typeface="Calibri Bold"/>
              </a:rPr>
              <a:t>Data Structure</a:t>
            </a:r>
          </a:p>
          <a:p>
            <a:pPr>
              <a:lnSpc>
                <a:spcPts val="4600"/>
              </a:lnSpc>
            </a:pPr>
            <a:endParaRPr lang="en-CA" sz="4008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2222500"/>
            <a:ext cx="1616906" cy="8207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07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07" smtClean="0">
                <a:solidFill>
                  <a:srgbClr val="000000"/>
                </a:solidFill>
                <a:latin typeface="Calibri"/>
                <a:cs typeface="Calibri"/>
              </a:rPr>
              <a:t>Task List</a:t>
            </a:r>
          </a:p>
          <a:p>
            <a:pPr>
              <a:lnSpc>
                <a:spcPts val="3220"/>
              </a:lnSpc>
            </a:pPr>
            <a:endParaRPr lang="en-CA" sz="2807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100" y="2743200"/>
            <a:ext cx="1616906" cy="8207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10" smtClean="0">
                <a:solidFill>
                  <a:srgbClr val="000000"/>
                </a:solidFill>
                <a:latin typeface="Calibri"/>
                <a:cs typeface="Calibri"/>
              </a:rPr>
              <a:t> Task</a:t>
            </a:r>
          </a:p>
          <a:p>
            <a:pPr>
              <a:lnSpc>
                <a:spcPts val="3220"/>
              </a:lnSpc>
            </a:pPr>
            <a:endParaRPr lang="en-CA" sz="281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6100" y="3251200"/>
            <a:ext cx="8597900" cy="5334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220"/>
              </a:lnSpc>
            </a:pPr>
            <a:r>
              <a:rPr lang="en-CA" sz="281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810" smtClean="0">
                <a:solidFill>
                  <a:srgbClr val="000000"/>
                </a:solidFill>
                <a:latin typeface="Calibri"/>
                <a:cs typeface="Calibri"/>
              </a:rPr>
              <a:t> Subtask</a:t>
            </a:r>
          </a:p>
          <a:p>
            <a:pPr>
              <a:lnSpc>
                <a:spcPts val="3220"/>
              </a:lnSpc>
            </a:pPr>
            <a:endParaRPr lang="en-CA" sz="281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95891" y="1772816"/>
            <a:ext cx="5598760" cy="432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483973"/>
            <a:ext cx="6984776" cy="13080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Code Snippet</a:t>
            </a:r>
          </a:p>
          <a:p>
            <a:pPr>
              <a:lnSpc>
                <a:spcPts val="5060"/>
              </a:lnSpc>
            </a:pPr>
            <a:endParaRPr lang="en-CA" sz="4394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27681" y="1192806"/>
            <a:ext cx="8844311" cy="49724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TextBox 2"/>
          <p:cNvSpPr txBox="1"/>
          <p:nvPr/>
        </p:nvSpPr>
        <p:spPr>
          <a:xfrm>
            <a:off x="3378200" y="355600"/>
            <a:ext cx="5765800" cy="584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680"/>
              </a:lnSpc>
            </a:pPr>
            <a:r>
              <a:rPr lang="en-CA" sz="3202" b="1" smtClean="0">
                <a:solidFill>
                  <a:srgbClr val="000000"/>
                </a:solidFill>
                <a:latin typeface="Calibri Bold"/>
                <a:cs typeface="Calibri Bold"/>
              </a:rPr>
              <a:t>Why-GSN-EDF</a:t>
            </a:r>
          </a:p>
          <a:p>
            <a:pPr>
              <a:lnSpc>
                <a:spcPts val="3680"/>
              </a:lnSpc>
            </a:pPr>
            <a:endParaRPr lang="en-CA" sz="3192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146300" y="5016500"/>
            <a:ext cx="69977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lang="en-CA" sz="1704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1704" smtClean="0">
                <a:solidFill>
                  <a:srgbClr val="000000"/>
                </a:solidFill>
                <a:latin typeface="Calibri"/>
                <a:cs typeface="Calibri"/>
              </a:rPr>
              <a:t>T2 and T4 are non-preemptive</a:t>
            </a:r>
          </a:p>
          <a:p>
            <a:pPr>
              <a:lnSpc>
                <a:spcPts val="1955"/>
              </a:lnSpc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146300" y="5283200"/>
            <a:ext cx="69977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lang="en-CA" sz="1704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1704" smtClean="0">
                <a:solidFill>
                  <a:srgbClr val="000000"/>
                </a:solidFill>
                <a:latin typeface="Calibri"/>
                <a:cs typeface="Calibri"/>
              </a:rPr>
              <a:t>Priority:</a:t>
            </a:r>
          </a:p>
          <a:p>
            <a:pPr>
              <a:lnSpc>
                <a:spcPts val="1955"/>
              </a:lnSpc>
            </a:pPr>
            <a:endParaRPr lang="en-CA" sz="1704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603500" y="5537200"/>
            <a:ext cx="65405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lang="en-CA" sz="1706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1706" smtClean="0">
                <a:solidFill>
                  <a:srgbClr val="000000"/>
                </a:solidFill>
                <a:latin typeface="Calibri"/>
                <a:cs typeface="Calibri"/>
              </a:rPr>
              <a:t>T1&gt;T2,  T1&gt;T4</a:t>
            </a:r>
          </a:p>
          <a:p>
            <a:pPr>
              <a:lnSpc>
                <a:spcPts val="1955"/>
              </a:lnSpc>
            </a:pPr>
            <a:endParaRPr lang="en-CA" sz="1706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603500" y="5803900"/>
            <a:ext cx="6540500" cy="3175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955"/>
              </a:lnSpc>
            </a:pPr>
            <a:r>
              <a:rPr lang="en-CA" sz="1704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1704" smtClean="0">
                <a:solidFill>
                  <a:srgbClr val="000000"/>
                </a:solidFill>
                <a:latin typeface="Calibri"/>
                <a:cs typeface="Calibri"/>
              </a:rPr>
              <a:t>T1&lt;T3,  T1&lt; T5</a:t>
            </a:r>
          </a:p>
          <a:p>
            <a:pPr>
              <a:lnSpc>
                <a:spcPts val="1955"/>
              </a:lnSpc>
            </a:pPr>
            <a:endParaRPr lang="en-CA" sz="1704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extBox 2"/>
          <p:cNvSpPr txBox="1"/>
          <p:nvPr/>
        </p:nvSpPr>
        <p:spPr>
          <a:xfrm>
            <a:off x="2374900" y="495300"/>
            <a:ext cx="6769100" cy="812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smtClean="0">
                <a:solidFill>
                  <a:srgbClr val="000000"/>
                </a:solidFill>
                <a:latin typeface="Calibri"/>
                <a:cs typeface="Calibri"/>
              </a:rPr>
              <a:t>GSN-EDF Algorithm</a:t>
            </a:r>
          </a:p>
          <a:p>
            <a:pPr>
              <a:lnSpc>
                <a:spcPts val="5060"/>
              </a:lnSpc>
            </a:pPr>
            <a:endParaRPr lang="en-CA" sz="4394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1612900"/>
            <a:ext cx="85979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2496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496" dirty="0" smtClean="0">
                <a:solidFill>
                  <a:srgbClr val="000000"/>
                </a:solidFill>
                <a:latin typeface="Calibri"/>
                <a:cs typeface="Calibri"/>
              </a:rPr>
              <a:t> Jobs can become non </a:t>
            </a:r>
            <a:r>
              <a:rPr lang="en-CA" sz="2496" dirty="0" err="1" smtClean="0">
                <a:solidFill>
                  <a:srgbClr val="000000"/>
                </a:solidFill>
                <a:latin typeface="Calibri"/>
                <a:cs typeface="Calibri"/>
              </a:rPr>
              <a:t>preemptable</a:t>
            </a:r>
            <a:r>
              <a:rPr lang="en-CA" sz="2496" dirty="0" smtClean="0">
                <a:solidFill>
                  <a:srgbClr val="000000"/>
                </a:solidFill>
                <a:latin typeface="Calibri"/>
                <a:cs typeface="Calibri"/>
              </a:rPr>
              <a:t> for short durations of</a:t>
            </a:r>
            <a:r>
              <a:rPr lang="en-CA" sz="2496" dirty="0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496" dirty="0" smtClean="0">
                <a:solidFill>
                  <a:srgbClr val="000000"/>
                </a:solidFill>
                <a:latin typeface="Times New Roman"/>
              </a:rPr>
            </a:br>
            <a:r>
              <a:rPr lang="en-CA" sz="2496" dirty="0" smtClean="0">
                <a:solidFill>
                  <a:srgbClr val="000000"/>
                </a:solidFill>
                <a:latin typeface="Calibri"/>
                <a:cs typeface="Calibri"/>
              </a:rPr>
              <a:t>	time.</a:t>
            </a:r>
          </a:p>
          <a:p>
            <a:pPr>
              <a:lnSpc>
                <a:spcPts val="2400"/>
              </a:lnSpc>
            </a:pPr>
            <a:endParaRPr lang="en-CA" sz="2496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6100" y="2298700"/>
            <a:ext cx="7631705" cy="12387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  <a:tab pos="342900" algn="l"/>
              </a:tabLst>
            </a:pPr>
            <a:r>
              <a:rPr lang="en-CA" sz="2498" dirty="0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498" dirty="0" smtClean="0">
                <a:solidFill>
                  <a:srgbClr val="000000"/>
                </a:solidFill>
                <a:latin typeface="Calibri"/>
                <a:cs typeface="Calibri"/>
              </a:rPr>
              <a:t> A job </a:t>
            </a:r>
            <a:r>
              <a:rPr lang="en-CA" sz="2498" dirty="0" err="1" smtClean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lang="en-CA" sz="1802" dirty="0" err="1" smtClean="0">
                <a:solidFill>
                  <a:srgbClr val="000000"/>
                </a:solidFill>
                <a:latin typeface="Calibri"/>
                <a:cs typeface="Calibri"/>
              </a:rPr>
              <a:t>ij</a:t>
            </a:r>
            <a:r>
              <a:rPr lang="en-CA" sz="2498" dirty="0" smtClean="0">
                <a:solidFill>
                  <a:srgbClr val="000000"/>
                </a:solidFill>
                <a:latin typeface="Calibri"/>
                <a:cs typeface="Calibri"/>
              </a:rPr>
              <a:t> is only blocked by another non-</a:t>
            </a:r>
            <a:r>
              <a:rPr lang="en-CA" sz="2498" dirty="0" err="1" smtClean="0">
                <a:solidFill>
                  <a:srgbClr val="000000"/>
                </a:solidFill>
                <a:latin typeface="Calibri"/>
                <a:cs typeface="Calibri"/>
              </a:rPr>
              <a:t>preemptable</a:t>
            </a:r>
            <a:r>
              <a:rPr lang="en-CA" sz="2498" dirty="0" smtClean="0">
                <a:solidFill>
                  <a:srgbClr val="000000"/>
                </a:solidFill>
                <a:latin typeface="Calibri"/>
                <a:cs typeface="Calibri"/>
              </a:rPr>
              <a:t> job</a:t>
            </a:r>
            <a:r>
              <a:rPr lang="en-CA" sz="2464" dirty="0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464" dirty="0" smtClean="0">
                <a:solidFill>
                  <a:srgbClr val="000000"/>
                </a:solidFill>
                <a:latin typeface="Times New Roman"/>
              </a:rPr>
            </a:br>
            <a:r>
              <a:rPr lang="en-CA" sz="2496" dirty="0" smtClean="0">
                <a:solidFill>
                  <a:srgbClr val="000000"/>
                </a:solidFill>
                <a:latin typeface="Calibri"/>
                <a:cs typeface="Calibri"/>
              </a:rPr>
              <a:t>	when </a:t>
            </a:r>
            <a:r>
              <a:rPr lang="en-CA" sz="2496" dirty="0" err="1" smtClean="0">
                <a:solidFill>
                  <a:srgbClr val="000000"/>
                </a:solidFill>
                <a:latin typeface="Calibri"/>
                <a:cs typeface="Calibri"/>
              </a:rPr>
              <a:t>T</a:t>
            </a:r>
            <a:r>
              <a:rPr lang="en-CA" sz="1655" dirty="0" err="1" smtClean="0">
                <a:solidFill>
                  <a:srgbClr val="000000"/>
                </a:solidFill>
                <a:latin typeface="Calibri"/>
                <a:cs typeface="Calibri"/>
              </a:rPr>
              <a:t>ij</a:t>
            </a:r>
            <a:r>
              <a:rPr lang="en-CA" sz="2496" dirty="0" smtClean="0">
                <a:solidFill>
                  <a:srgbClr val="000000"/>
                </a:solidFill>
                <a:latin typeface="Calibri"/>
                <a:cs typeface="Calibri"/>
              </a:rPr>
              <a:t> is either released or resumed, and that such</a:t>
            </a:r>
            <a:r>
              <a:rPr lang="en-CA" sz="2498" dirty="0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498" dirty="0" smtClean="0">
                <a:solidFill>
                  <a:srgbClr val="000000"/>
                </a:solidFill>
                <a:latin typeface="Times New Roman"/>
              </a:rPr>
            </a:br>
            <a:r>
              <a:rPr lang="en-CA" sz="2498" dirty="0" smtClean="0">
                <a:solidFill>
                  <a:srgbClr val="000000"/>
                </a:solidFill>
                <a:latin typeface="Calibri"/>
                <a:cs typeface="Calibri"/>
              </a:rPr>
              <a:t>	blocking durations are reasonably constrained.</a:t>
            </a:r>
          </a:p>
          <a:p>
            <a:pPr>
              <a:lnSpc>
                <a:spcPts val="2400"/>
              </a:lnSpc>
            </a:pPr>
            <a:endParaRPr lang="en-CA" sz="2498" dirty="0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6100" y="3289300"/>
            <a:ext cx="85979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2496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A job T</a:t>
            </a:r>
            <a:r>
              <a:rPr lang="en-CA" sz="1655" smtClean="0">
                <a:solidFill>
                  <a:srgbClr val="000000"/>
                </a:solidFill>
                <a:latin typeface="Calibri"/>
                <a:cs typeface="Calibri"/>
              </a:rPr>
              <a:t>ij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is non-preemptively blocked at time t iff T</a:t>
            </a:r>
            <a:r>
              <a:rPr lang="en-CA" sz="1655" smtClean="0">
                <a:solidFill>
                  <a:srgbClr val="000000"/>
                </a:solidFill>
                <a:latin typeface="Calibri"/>
                <a:cs typeface="Calibri"/>
              </a:rPr>
              <a:t>ij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is one of</a:t>
            </a:r>
            <a:r>
              <a:rPr lang="en-CA" sz="2498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498" smtClean="0">
                <a:solidFill>
                  <a:srgbClr val="000000"/>
                </a:solidFill>
                <a:latin typeface="Times New Roman"/>
              </a:rPr>
            </a:br>
            <a:r>
              <a:rPr lang="en-CA" sz="2498" smtClean="0">
                <a:solidFill>
                  <a:srgbClr val="000000"/>
                </a:solidFill>
                <a:latin typeface="Calibri"/>
                <a:cs typeface="Calibri"/>
              </a:rPr>
              <a:t>	the highest-priority runnable jobs and it is not scheduled at</a:t>
            </a:r>
          </a:p>
          <a:p>
            <a:pPr>
              <a:lnSpc>
                <a:spcPts val="2400"/>
              </a:lnSpc>
            </a:pPr>
            <a:endParaRPr lang="en-CA" sz="2498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89000" y="3911600"/>
            <a:ext cx="8255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15"/>
              </a:lnSpc>
            </a:pP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t because a lower-priority non-preemptable job is</a:t>
            </a:r>
          </a:p>
          <a:p>
            <a:pPr>
              <a:lnSpc>
                <a:spcPts val="2315"/>
              </a:lnSpc>
            </a:pPr>
            <a:endParaRPr lang="en-CA" sz="2496">
              <a:solidFill>
                <a:srgbClr val="000000"/>
              </a:solidFill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89000" y="4216400"/>
            <a:ext cx="82550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CA" sz="2498" smtClean="0">
                <a:solidFill>
                  <a:srgbClr val="000000"/>
                </a:solidFill>
                <a:latin typeface="Calibri"/>
                <a:cs typeface="Calibri"/>
              </a:rPr>
              <a:t>scheduled instead.</a:t>
            </a:r>
          </a:p>
          <a:p>
            <a:pPr>
              <a:lnSpc>
                <a:spcPts val="2300"/>
              </a:lnSpc>
            </a:pPr>
            <a:endParaRPr lang="en-CA" sz="2498">
              <a:solidFill>
                <a:srgbClr val="000000"/>
              </a:solidFill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6100" y="4546600"/>
            <a:ext cx="8597900" cy="4572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875"/>
              </a:lnSpc>
            </a:pPr>
            <a:r>
              <a:rPr lang="en-CA" sz="2496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Each processor has a </a:t>
            </a:r>
            <a:r>
              <a:rPr lang="en-CA" sz="2496" smtClean="0">
                <a:solidFill>
                  <a:srgbClr val="000000"/>
                </a:solidFill>
                <a:latin typeface="Calibri Italic"/>
                <a:cs typeface="Calibri Italic"/>
              </a:rPr>
              <a:t>scheduled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and </a:t>
            </a:r>
            <a:r>
              <a:rPr lang="en-CA" sz="2496" smtClean="0">
                <a:solidFill>
                  <a:srgbClr val="000000"/>
                </a:solidFill>
                <a:latin typeface="Calibri Italic"/>
                <a:cs typeface="Calibri Italic"/>
              </a:rPr>
              <a:t>linked</a:t>
            </a: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 job.</a:t>
            </a:r>
          </a:p>
          <a:p>
            <a:pPr>
              <a:lnSpc>
                <a:spcPts val="2875"/>
              </a:lnSpc>
            </a:pPr>
            <a:endParaRPr lang="en-CA" sz="2496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46100" y="4965700"/>
            <a:ext cx="8597900" cy="7620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400"/>
              </a:lnSpc>
              <a:tabLst>
                <a:tab pos="342900" algn="l"/>
              </a:tabLst>
            </a:pPr>
            <a:r>
              <a:rPr lang="en-CA" sz="2498" smtClean="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lang="en-CA" sz="2498" smtClean="0">
                <a:solidFill>
                  <a:srgbClr val="000000"/>
                </a:solidFill>
                <a:latin typeface="Calibri"/>
                <a:cs typeface="Calibri"/>
              </a:rPr>
              <a:t> Handle cases of Job arrival, Job completion and conversion</a:t>
            </a:r>
            <a:r>
              <a:rPr lang="en-CA" sz="2496" smtClean="0">
                <a:solidFill>
                  <a:srgbClr val="000000"/>
                </a:solidFill>
                <a:latin typeface="Times New Roman"/>
              </a:rPr>
              <a:t/>
            </a:r>
            <a:br>
              <a:rPr lang="en-CA" sz="2496" smtClean="0">
                <a:solidFill>
                  <a:srgbClr val="000000"/>
                </a:solidFill>
                <a:latin typeface="Times New Roman"/>
              </a:rPr>
            </a:br>
            <a:r>
              <a:rPr lang="en-CA" sz="2496" smtClean="0">
                <a:solidFill>
                  <a:srgbClr val="000000"/>
                </a:solidFill>
                <a:latin typeface="Calibri"/>
                <a:cs typeface="Calibri"/>
              </a:rPr>
              <a:t>	of a non-preemptable task to a preemptable one.</a:t>
            </a:r>
          </a:p>
          <a:p>
            <a:pPr>
              <a:lnSpc>
                <a:spcPts val="2400"/>
              </a:lnSpc>
            </a:pPr>
            <a:endParaRPr lang="en-CA" sz="2496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2500" y="495300"/>
            <a:ext cx="6921500" cy="812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smtClean="0">
                <a:solidFill>
                  <a:srgbClr val="000000"/>
                </a:solidFill>
                <a:latin typeface="Calibri"/>
                <a:cs typeface="Calibri"/>
              </a:rPr>
              <a:t>GSN-EDF Advantage:</a:t>
            </a:r>
          </a:p>
          <a:p>
            <a:pPr>
              <a:lnSpc>
                <a:spcPts val="5060"/>
              </a:lnSpc>
            </a:pPr>
            <a:endParaRPr lang="en-CA" sz="4394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786910" cy="6858000"/>
          </a:xfrm>
          <a:prstGeom prst="rect">
            <a:avLst/>
          </a:prstGeom>
        </p:spPr>
      </p:pic>
      <p:sp>
        <p:nvSpPr>
          <p:cNvPr id="10" name="TextBox 2"/>
          <p:cNvSpPr txBox="1"/>
          <p:nvPr/>
        </p:nvSpPr>
        <p:spPr>
          <a:xfrm>
            <a:off x="2768600" y="495300"/>
            <a:ext cx="3394455" cy="130805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dirty="0" smtClean="0">
                <a:solidFill>
                  <a:srgbClr val="000000"/>
                </a:solidFill>
                <a:latin typeface="Calibri"/>
                <a:cs typeface="Calibri"/>
              </a:rPr>
              <a:t>OUR CHANGES</a:t>
            </a:r>
          </a:p>
          <a:p>
            <a:pPr>
              <a:lnSpc>
                <a:spcPts val="5060"/>
              </a:lnSpc>
            </a:pPr>
            <a:endParaRPr lang="en-CA" sz="4394" dirty="0">
              <a:solidFill>
                <a:srgbClr val="00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6100" y="1612900"/>
            <a:ext cx="8957260" cy="30008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900"/>
              </a:lnSpc>
            </a:pP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The changes done are in the following three sections :</a:t>
            </a:r>
          </a:p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 User Space</a:t>
            </a:r>
          </a:p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 System calls</a:t>
            </a:r>
          </a:p>
          <a:p>
            <a:pPr>
              <a:lnSpc>
                <a:spcPts val="3900"/>
              </a:lnSpc>
              <a:buFont typeface="Arial" pitchFamily="34" charset="0"/>
              <a:buChar char="•"/>
            </a:pPr>
            <a:r>
              <a:rPr lang="en-CA" sz="3194" dirty="0" smtClean="0">
                <a:solidFill>
                  <a:srgbClr val="000000"/>
                </a:solidFill>
                <a:latin typeface="Calibri"/>
                <a:cs typeface="Calibri"/>
              </a:rPr>
              <a:t> Kernel Space</a:t>
            </a:r>
          </a:p>
          <a:p>
            <a:pPr>
              <a:lnSpc>
                <a:spcPts val="3900"/>
              </a:lnSpc>
            </a:pPr>
            <a:endParaRPr lang="en-CA" sz="3194" dirty="0" smtClean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ts val="3900"/>
              </a:lnSpc>
            </a:pPr>
            <a:endParaRPr lang="en-CA" sz="3194" dirty="0">
              <a:solidFill>
                <a:srgbClr val="000000"/>
              </a:solidFill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60500" y="5168900"/>
            <a:ext cx="65" cy="71814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2760"/>
              </a:lnSpc>
            </a:pPr>
            <a:endParaRPr lang="en-CA" sz="2400" dirty="0" smtClean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ts val="2760"/>
              </a:lnSpc>
            </a:pPr>
            <a:endParaRPr lang="en-CA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71800" y="495300"/>
            <a:ext cx="6172200" cy="812800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5060"/>
              </a:lnSpc>
            </a:pPr>
            <a:r>
              <a:rPr lang="en-CA" sz="4394" smtClean="0">
                <a:solidFill>
                  <a:srgbClr val="000000"/>
                </a:solidFill>
                <a:latin typeface="Calibri"/>
                <a:cs typeface="Calibri"/>
              </a:rPr>
              <a:t>User Interface</a:t>
            </a:r>
          </a:p>
          <a:p>
            <a:pPr>
              <a:lnSpc>
                <a:spcPts val="5060"/>
              </a:lnSpc>
            </a:pPr>
            <a:endParaRPr lang="en-CA" sz="4394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59632" y="1308100"/>
            <a:ext cx="5760640" cy="5321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8061352" cy="1595967"/>
          </a:xfrm>
        </p:spPr>
        <p:txBody>
          <a:bodyPr/>
          <a:lstStyle/>
          <a:p>
            <a:r>
              <a:rPr lang="en-US" dirty="0" smtClean="0"/>
              <a:t>USER SPACE-I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1928803"/>
            <a:ext cx="8204228" cy="3588429"/>
          </a:xfrm>
        </p:spPr>
        <p:txBody>
          <a:bodyPr>
            <a:normAutofit/>
          </a:bodyPr>
          <a:lstStyle/>
          <a:p>
            <a:r>
              <a:rPr lang="en-US" b="1" dirty="0" smtClean="0"/>
              <a:t> </a:t>
            </a:r>
            <a:r>
              <a:rPr lang="en-US" sz="2800" b="1" dirty="0" smtClean="0"/>
              <a:t>Creation of threads-</a:t>
            </a:r>
            <a:r>
              <a:rPr lang="en-US" sz="2800" dirty="0" smtClean="0"/>
              <a:t>In the user space, we create multiple threads. Each thread via the inbuilt system call (</a:t>
            </a:r>
            <a:r>
              <a:rPr lang="en-US" sz="2800" dirty="0" err="1" smtClean="0"/>
              <a:t>getid</a:t>
            </a:r>
            <a:r>
              <a:rPr lang="en-US" sz="2800" dirty="0" smtClean="0"/>
              <a:t>()), obtains its PID and this PID is used by our </a:t>
            </a:r>
            <a:r>
              <a:rPr lang="en-US" sz="2800" dirty="0" err="1" smtClean="0"/>
              <a:t>syscall</a:t>
            </a:r>
            <a:r>
              <a:rPr lang="en-US" sz="2800" dirty="0" smtClean="0"/>
              <a:t> to initialize a subtask in the data structure</a:t>
            </a:r>
            <a:endParaRPr lang="en-US" sz="2800" b="1" dirty="0" smtClean="0"/>
          </a:p>
          <a:p>
            <a:r>
              <a:rPr lang="en-US" sz="2800" b="1" dirty="0" smtClean="0"/>
              <a:t> Dummy Thread-</a:t>
            </a:r>
            <a:r>
              <a:rPr lang="en-US" sz="2800" dirty="0" smtClean="0"/>
              <a:t>Apart from the RT threads, we created a dummy thread to specify the constraints.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8132790" cy="1595967"/>
          </a:xfrm>
        </p:spPr>
        <p:txBody>
          <a:bodyPr/>
          <a:lstStyle/>
          <a:p>
            <a:r>
              <a:rPr lang="en-US" dirty="0" smtClean="0"/>
              <a:t>USER SPACE-II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2234355"/>
            <a:ext cx="8418542" cy="3858941"/>
          </a:xfrm>
        </p:spPr>
        <p:txBody>
          <a:bodyPr/>
          <a:lstStyle/>
          <a:p>
            <a:r>
              <a:rPr lang="en-US" sz="2800" b="1" dirty="0" smtClean="0"/>
              <a:t>Lock</a:t>
            </a:r>
            <a:r>
              <a:rPr lang="en-US" sz="2800" dirty="0" smtClean="0"/>
              <a:t>-Dummy thread waits on a lock until all the threads obtain their </a:t>
            </a:r>
            <a:r>
              <a:rPr lang="en-US" sz="2800" dirty="0" err="1"/>
              <a:t>p</a:t>
            </a:r>
            <a:r>
              <a:rPr lang="en-US" sz="2800" dirty="0" err="1" smtClean="0"/>
              <a:t>ids</a:t>
            </a:r>
            <a:r>
              <a:rPr lang="en-US" sz="2800" dirty="0" smtClean="0"/>
              <a:t>. The threads wait till all the constraints are specified and then resume to accomplish their tasks in real time mode.</a:t>
            </a:r>
          </a:p>
          <a:p>
            <a:r>
              <a:rPr lang="en-US" sz="2800" b="1" dirty="0" smtClean="0"/>
              <a:t>Deletion of Threads -</a:t>
            </a:r>
            <a:r>
              <a:rPr lang="en-US" sz="2800" dirty="0" smtClean="0"/>
              <a:t>Once the task gets completed, the corresponding subtasks are removed from the data structure at kernel side via our defined </a:t>
            </a:r>
            <a:r>
              <a:rPr lang="en-US" sz="2800" dirty="0" err="1" smtClean="0"/>
              <a:t>syscall</a:t>
            </a:r>
            <a:r>
              <a:rPr lang="en-US" sz="2800" dirty="0" smtClean="0"/>
              <a:t>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8204228" cy="1595967"/>
          </a:xfrm>
        </p:spPr>
        <p:txBody>
          <a:bodyPr/>
          <a:lstStyle/>
          <a:p>
            <a:r>
              <a:rPr lang="en-US" dirty="0" smtClean="0"/>
              <a:t>SYSCALLS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8300" y="2234355"/>
            <a:ext cx="8347104" cy="4623645"/>
          </a:xfrm>
        </p:spPr>
        <p:txBody>
          <a:bodyPr>
            <a:normAutofit/>
          </a:bodyPr>
          <a:lstStyle/>
          <a:p>
            <a:r>
              <a:rPr lang="en-US" b="1" dirty="0" smtClean="0"/>
              <a:t> </a:t>
            </a:r>
            <a:r>
              <a:rPr lang="en-US" sz="2800" b="1" dirty="0" smtClean="0"/>
              <a:t>Syscall-1 long </a:t>
            </a:r>
            <a:r>
              <a:rPr lang="en-US" sz="2800" b="1" dirty="0" err="1" smtClean="0"/>
              <a:t>sys_set_main_task_pid</a:t>
            </a:r>
            <a:r>
              <a:rPr lang="en-US" sz="2800" b="1" dirty="0" smtClean="0"/>
              <a:t>(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subtask_pid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main_task_pid</a:t>
            </a:r>
            <a:endParaRPr lang="en-US" sz="2800" b="1" dirty="0" smtClean="0"/>
          </a:p>
          <a:p>
            <a:r>
              <a:rPr lang="en-US" sz="2800" b="1" dirty="0" err="1" smtClean="0"/>
              <a:t>Syscall</a:t>
            </a:r>
            <a:r>
              <a:rPr lang="en-US" sz="2800" b="1" dirty="0" smtClean="0"/>
              <a:t> -2: long </a:t>
            </a:r>
            <a:r>
              <a:rPr lang="en-US" sz="2800" b="1" dirty="0" err="1" smtClean="0"/>
              <a:t>sys_init_dep_subtask</a:t>
            </a:r>
            <a:r>
              <a:rPr lang="en-US" sz="2800" b="1" dirty="0" smtClean="0"/>
              <a:t> (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subtask_pid</a:t>
            </a:r>
            <a:r>
              <a:rPr lang="en-US" sz="2800" b="1" dirty="0" smtClean="0"/>
              <a:t>)</a:t>
            </a:r>
          </a:p>
          <a:p>
            <a:r>
              <a:rPr lang="en-US" sz="2800" b="1" dirty="0" smtClean="0"/>
              <a:t>Syscall-3:long </a:t>
            </a:r>
            <a:r>
              <a:rPr lang="en-US" sz="2800" b="1" dirty="0" err="1" smtClean="0"/>
              <a:t>sys_add_parent_to_subtask</a:t>
            </a:r>
            <a:r>
              <a:rPr lang="en-US" sz="2800" b="1" dirty="0" smtClean="0"/>
              <a:t>(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parent_pid</a:t>
            </a:r>
            <a:r>
              <a:rPr lang="en-US" sz="2800" b="1" dirty="0" smtClean="0"/>
              <a:t>, 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subtask_pid</a:t>
            </a:r>
            <a:r>
              <a:rPr lang="en-US" sz="2800" b="1" dirty="0" smtClean="0"/>
              <a:t>)</a:t>
            </a:r>
          </a:p>
          <a:p>
            <a:r>
              <a:rPr lang="en-US" sz="2800" b="1" dirty="0" err="1" smtClean="0"/>
              <a:t>Syscall</a:t>
            </a:r>
            <a:r>
              <a:rPr lang="en-US" sz="2800" b="1" dirty="0" smtClean="0"/>
              <a:t> -4: long </a:t>
            </a:r>
            <a:r>
              <a:rPr lang="en-US" sz="2800" b="1" dirty="0" err="1" smtClean="0"/>
              <a:t>sys_exit_dep_task</a:t>
            </a:r>
            <a:r>
              <a:rPr lang="en-US" sz="2800" b="1" dirty="0" smtClean="0"/>
              <a:t> (</a:t>
            </a:r>
            <a:r>
              <a:rPr lang="en-US" sz="2800" b="1" dirty="0" err="1" smtClean="0"/>
              <a:t>pid_t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main_task_pid</a:t>
            </a:r>
            <a:r>
              <a:rPr lang="en-US" sz="2800" b="1" dirty="0" smtClean="0"/>
              <a:t>)</a:t>
            </a:r>
            <a:endParaRPr lang="en-US" sz="28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8275666" cy="1595967"/>
          </a:xfrm>
        </p:spPr>
        <p:txBody>
          <a:bodyPr/>
          <a:lstStyle/>
          <a:p>
            <a:r>
              <a:rPr lang="en-US" dirty="0" smtClean="0"/>
              <a:t>KERNEL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700808"/>
            <a:ext cx="8275666" cy="4623645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Only a released task whose parent list is empty is eligible for scheduling.</a:t>
            </a:r>
          </a:p>
          <a:p>
            <a:r>
              <a:rPr lang="en-US" dirty="0" smtClean="0"/>
              <a:t>From the data structure we implemented, we maintain a list of </a:t>
            </a:r>
            <a:r>
              <a:rPr lang="en-US" dirty="0"/>
              <a:t>schedulable tasks </a:t>
            </a:r>
            <a:r>
              <a:rPr lang="en-US" dirty="0" smtClean="0"/>
              <a:t>(whose parent list is empty). </a:t>
            </a:r>
            <a:endParaRPr lang="en-US" dirty="0"/>
          </a:p>
          <a:p>
            <a:r>
              <a:rPr lang="en-US" dirty="0" smtClean="0"/>
              <a:t>If an arrived job is released and has all preceding subtasks executed, it passed to the ready queue for scheduling. Else, we keep it in a waiting list.</a:t>
            </a:r>
          </a:p>
          <a:p>
            <a:r>
              <a:rPr lang="en-US" dirty="0" smtClean="0"/>
              <a:t>When a task is executed, we refresh the schedulable tasks list and add </a:t>
            </a:r>
            <a:r>
              <a:rPr lang="en-US" dirty="0"/>
              <a:t>the waiting </a:t>
            </a:r>
            <a:r>
              <a:rPr lang="en-US" dirty="0" smtClean="0"/>
              <a:t>schedulable tasks to ready queue.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83477"/>
            <a:ext cx="8061352" cy="1595967"/>
          </a:xfrm>
        </p:spPr>
        <p:txBody>
          <a:bodyPr/>
          <a:lstStyle/>
          <a:p>
            <a:r>
              <a:rPr lang="en-US" dirty="0" smtClean="0"/>
              <a:t>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772816"/>
            <a:ext cx="8061352" cy="4480793"/>
          </a:xfrm>
        </p:spPr>
        <p:txBody>
          <a:bodyPr>
            <a:normAutofit/>
          </a:bodyPr>
          <a:lstStyle/>
          <a:p>
            <a:r>
              <a:rPr lang="en-US" dirty="0" smtClean="0"/>
              <a:t>Kernel compilation : Unstable kernel – 2.6.36</a:t>
            </a:r>
          </a:p>
          <a:p>
            <a:r>
              <a:rPr lang="en-US" dirty="0" smtClean="0"/>
              <a:t>Understand the control flow</a:t>
            </a:r>
            <a:r>
              <a:rPr lang="en-US" dirty="0"/>
              <a:t>. </a:t>
            </a:r>
            <a:r>
              <a:rPr lang="en-US" dirty="0" smtClean="0"/>
              <a:t>(</a:t>
            </a:r>
            <a:r>
              <a:rPr lang="en-US" dirty="0"/>
              <a:t>No </a:t>
            </a:r>
            <a:r>
              <a:rPr lang="en-US" dirty="0" smtClean="0"/>
              <a:t>documentation </a:t>
            </a:r>
            <a:r>
              <a:rPr lang="en-US" dirty="0"/>
              <a:t>available for Litmus code</a:t>
            </a:r>
            <a:r>
              <a:rPr lang="en-US" dirty="0" smtClean="0"/>
              <a:t>.)</a:t>
            </a:r>
          </a:p>
          <a:p>
            <a:r>
              <a:rPr lang="en-US" dirty="0" smtClean="0"/>
              <a:t>Making changes in the code without breaking the existing flow.</a:t>
            </a:r>
          </a:p>
          <a:p>
            <a:r>
              <a:rPr lang="en-US" dirty="0" smtClean="0"/>
              <a:t>Multithreaded programming: shared resourced, race conditions, thread blocking, condition variables and locks.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564904"/>
            <a:ext cx="6629400" cy="1595967"/>
          </a:xfrm>
        </p:spPr>
        <p:txBody>
          <a:bodyPr/>
          <a:lstStyle/>
          <a:p>
            <a:r>
              <a:rPr lang="en-US" dirty="0" smtClean="0"/>
              <a:t>Demonstration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7621182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5616" y="2564904"/>
            <a:ext cx="6629400" cy="1595967"/>
          </a:xfrm>
        </p:spPr>
        <p:txBody>
          <a:bodyPr/>
          <a:lstStyle/>
          <a:p>
            <a:r>
              <a:rPr lang="en-US" dirty="0" smtClean="0"/>
              <a:t>Thank you.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7246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520</Words>
  <Application>Microsoft Office PowerPoint</Application>
  <PresentationFormat>On-screen Show (4:3)</PresentationFormat>
  <Paragraphs>94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Slide 2</vt:lpstr>
      <vt:lpstr>LITMUSRT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USER SPACE-I</vt:lpstr>
      <vt:lpstr>USER SPACE-II</vt:lpstr>
      <vt:lpstr>SYSCALLS</vt:lpstr>
      <vt:lpstr>KERNEL SPACE</vt:lpstr>
      <vt:lpstr>CHALLENGES</vt:lpstr>
      <vt:lpstr>Demonstration</vt:lpstr>
      <vt:lpstr>Thank you.</vt:lpstr>
    </vt:vector>
  </TitlesOfParts>
  <Company>Investintech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A2E_Engine</dc:creator>
  <cp:lastModifiedBy>shashank</cp:lastModifiedBy>
  <cp:revision>81</cp:revision>
  <cp:lastPrinted>2012-04-10T06:19:06Z</cp:lastPrinted>
  <dcterms:created xsi:type="dcterms:W3CDTF">2012-04-08T02:13:03Z</dcterms:created>
  <dcterms:modified xsi:type="dcterms:W3CDTF">2012-04-10T06:53:55Z</dcterms:modified>
</cp:coreProperties>
</file>